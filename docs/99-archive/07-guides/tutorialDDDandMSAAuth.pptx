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8c073dd89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8c073dd89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8c073dd89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98c073dd89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8c073dd8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8c073dd8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8c073dd8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8c073dd8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8c073dd8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8c073dd8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8c073dd8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8c073dd8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8c073dd8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8c073dd8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8c073dd89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8c073dd89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8c073dd89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8c073dd89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8c073dd89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8c073dd89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8c073dd89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8c073dd89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8c073dd89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8c073dd89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8c073dd89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8c073dd89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8c073dd89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8c073dd89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8c073dd89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98c073dd89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4481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</a:t>
            </a:r>
            <a:r>
              <a:rPr lang="ko"/>
              <a:t>차 프로젝트 도움말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311708" y="14481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ko" sz="2400"/>
              <a:t>MSA 의 인증/인가 구현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ko" sz="2400"/>
              <a:t>DDD 디렉토리 구조 설명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311708" y="14481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/>
              <a:t>1. </a:t>
            </a:r>
            <a:r>
              <a:rPr lang="ko" sz="2400"/>
              <a:t>MSA 의 인증/인가 구현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ctrTitle"/>
          </p:nvPr>
        </p:nvSpPr>
        <p:spPr>
          <a:xfrm>
            <a:off x="268051" y="218175"/>
            <a:ext cx="6876000" cy="53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/>
              <a:t>먼저 알아야 하는 모놀리식의 인증/인가 동작 원리</a:t>
            </a:r>
            <a:endParaRPr sz="2400"/>
          </a:p>
        </p:txBody>
      </p:sp>
      <p:cxnSp>
        <p:nvCxnSpPr>
          <p:cNvPr id="70" name="Google Shape;70;p16"/>
          <p:cNvCxnSpPr/>
          <p:nvPr/>
        </p:nvCxnSpPr>
        <p:spPr>
          <a:xfrm flipH="1" rot="10800000">
            <a:off x="332725" y="736500"/>
            <a:ext cx="8519700" cy="1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16"/>
          <p:cNvSpPr txBox="1"/>
          <p:nvPr/>
        </p:nvSpPr>
        <p:spPr>
          <a:xfrm>
            <a:off x="505950" y="995550"/>
            <a:ext cx="80997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모놀리식 애플리케이션에서는 모든 요청이 단일 Servlet Context 와 공통 필터 체인을 거칩니다.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즉, Auth, Order, Product, User 같은 도메인이 코드상으로 나뉘어 있어도, </a:t>
            </a:r>
            <a:br>
              <a:rPr lang="ko" sz="1100">
                <a:solidFill>
                  <a:schemeClr val="dk2"/>
                </a:solidFill>
              </a:rPr>
            </a:br>
            <a:r>
              <a:rPr lang="ko" sz="1100">
                <a:solidFill>
                  <a:schemeClr val="dk2"/>
                </a:solidFill>
              </a:rPr>
              <a:t>하나의 애플리케이션 컨텍스트(Application Context) 안에서 동작합니다.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522150" y="1884563"/>
            <a:ext cx="80997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그로 인해 Security Context 에 User Details를 저장해두면, Spring Security 는 ThreadLocal 기반의 SecurityContextHolder 를 사용하고, 이것이 애플리케이션 컨텍스트에 저장되기 때문에  SecurityContextHolder 를 통해 다른 도메인들도 언제든 UserDetails 를 조회할 수 있었겠죠!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9250" y="3201288"/>
            <a:ext cx="3506650" cy="1757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ctrTitle"/>
          </p:nvPr>
        </p:nvSpPr>
        <p:spPr>
          <a:xfrm>
            <a:off x="268055" y="218175"/>
            <a:ext cx="3544500" cy="53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/>
              <a:t>MSA 의 특성 (1)</a:t>
            </a:r>
            <a:endParaRPr sz="2400"/>
          </a:p>
        </p:txBody>
      </p:sp>
      <p:cxnSp>
        <p:nvCxnSpPr>
          <p:cNvPr id="79" name="Google Shape;79;p17"/>
          <p:cNvCxnSpPr/>
          <p:nvPr/>
        </p:nvCxnSpPr>
        <p:spPr>
          <a:xfrm flipH="1" rot="10800000">
            <a:off x="332725" y="736500"/>
            <a:ext cx="8519700" cy="1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7"/>
          <p:cNvSpPr txBox="1"/>
          <p:nvPr/>
        </p:nvSpPr>
        <p:spPr>
          <a:xfrm>
            <a:off x="332725" y="935225"/>
            <a:ext cx="8099700" cy="18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이전장에 나와있듯이 모놀리식 환경에서는 하나의 애플리케이션 컨텍스트와 공통 필터 체인을 사용하기 때문에,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Spring Security가 한 번만 설정되어도 모든 도메인에서 인증·인가 정보를 공유할 수 있었습니다.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하지만 MSA 환경에서는 각 도메인이 별도의 Spring 애플리케이션으로 동작합니다.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즉, 각 서비스가 자체적인 Application Context를 가지며, 서로 다른 실행 프로세스로 분리됩니다.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따라서 모놀리식처럼 SecurityContext나 ApplicationContext를 통해 인증 정보를 전파하는 방식은 더 이상 동작하지 않습니다.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Auth 서비스에 Spring Security를 적용하더라도, 그 설정은 다른 도메인 서비스로 전달되지 않기 때문입니다.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ko" sz="1100">
                <a:solidFill>
                  <a:schemeClr val="dk2"/>
                </a:solidFill>
              </a:rPr>
            </a:br>
            <a:r>
              <a:rPr lang="ko" sz="1100">
                <a:solidFill>
                  <a:schemeClr val="dk2"/>
                </a:solidFill>
              </a:rPr>
              <a:t>결국 MSA에서는 각 서비스가 </a:t>
            </a:r>
            <a:r>
              <a:rPr b="1" lang="ko" sz="1100">
                <a:solidFill>
                  <a:schemeClr val="dk2"/>
                </a:solidFill>
              </a:rPr>
              <a:t>독립적으로 인증을 처리</a:t>
            </a:r>
            <a:r>
              <a:rPr lang="ko" sz="1100">
                <a:solidFill>
                  <a:schemeClr val="dk2"/>
                </a:solidFill>
              </a:rPr>
              <a:t>하거나, </a:t>
            </a:r>
            <a:r>
              <a:rPr b="1" lang="ko" sz="1100">
                <a:solidFill>
                  <a:schemeClr val="dk2"/>
                </a:solidFill>
              </a:rPr>
              <a:t>공통 인증 수단</a:t>
            </a:r>
            <a:r>
              <a:rPr lang="ko" sz="1100">
                <a:solidFill>
                  <a:schemeClr val="dk2"/>
                </a:solidFill>
              </a:rPr>
              <a:t>을 통해 사용자 정보를 검증해야 합니다.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7625" y="2818325"/>
            <a:ext cx="4686300" cy="221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ctrTitle"/>
          </p:nvPr>
        </p:nvSpPr>
        <p:spPr>
          <a:xfrm>
            <a:off x="268055" y="218175"/>
            <a:ext cx="3544500" cy="53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/>
              <a:t>MSA 의 특성 (2)</a:t>
            </a:r>
            <a:endParaRPr sz="2400"/>
          </a:p>
        </p:txBody>
      </p:sp>
      <p:cxnSp>
        <p:nvCxnSpPr>
          <p:cNvPr id="87" name="Google Shape;87;p18"/>
          <p:cNvCxnSpPr/>
          <p:nvPr/>
        </p:nvCxnSpPr>
        <p:spPr>
          <a:xfrm flipH="1" rot="10800000">
            <a:off x="332725" y="736500"/>
            <a:ext cx="8519700" cy="1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18"/>
          <p:cNvSpPr txBox="1"/>
          <p:nvPr/>
        </p:nvSpPr>
        <p:spPr>
          <a:xfrm>
            <a:off x="332725" y="1325725"/>
            <a:ext cx="8099700" cy="20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MSA 환경에서는 요청 흐름 자체도 </a:t>
            </a:r>
            <a:r>
              <a:rPr b="1" lang="ko" sz="1100">
                <a:solidFill>
                  <a:schemeClr val="dk2"/>
                </a:solidFill>
              </a:rPr>
              <a:t>모놀리식과는 다르게 동작</a:t>
            </a:r>
            <a:r>
              <a:rPr lang="ko" sz="1100">
                <a:solidFill>
                  <a:schemeClr val="dk2"/>
                </a:solidFill>
              </a:rPr>
              <a:t>합니다.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모놀리식에서는 사용자의 요청이 애플리케이션으로 들어온 뒤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Spring Security가 이를 필터 체인에서 직접 가로채 인증/인가를 수행할 수 있었습니다.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반면, MSA 구조에서는 </a:t>
            </a:r>
            <a:r>
              <a:rPr b="1" lang="ko" sz="1100">
                <a:solidFill>
                  <a:schemeClr val="dk2"/>
                </a:solidFill>
              </a:rPr>
              <a:t>요청이 먼저 API Gateway를 거치며</a:t>
            </a:r>
            <a:br>
              <a:rPr lang="ko" sz="1100">
                <a:solidFill>
                  <a:schemeClr val="dk2"/>
                </a:solidFill>
              </a:rPr>
            </a:br>
            <a:r>
              <a:rPr lang="ko" sz="1100">
                <a:solidFill>
                  <a:schemeClr val="dk2"/>
                </a:solidFill>
              </a:rPr>
              <a:t>Gateway는 클라이언트 요청을 받아 라우팅 규칙에 따라 각 도메인 서비스로 분배합니다.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이때 Auth 서비스는 요청의 흐름상 다른 서비스의 앞단에 위치하지 않기 때문에,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다른 도메인의 요청을 직접 가로채거나 필터 체인에서 처리할 수 없습니다.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즉, Auth 서비스가 별도로 존재하더라도, </a:t>
            </a:r>
            <a:r>
              <a:rPr b="1" lang="ko" sz="1100">
                <a:solidFill>
                  <a:schemeClr val="dk2"/>
                </a:solidFill>
              </a:rPr>
              <a:t>모든 요청이 반드시 Auth를 통과하지는 않으며</a:t>
            </a:r>
            <a:r>
              <a:rPr lang="ko" sz="1100">
                <a:solidFill>
                  <a:schemeClr val="dk2"/>
                </a:solidFill>
              </a:rPr>
              <a:t>,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Spring Security를 Auth에만 적용해도 다른 서비스의 요청을 보호할 수는 없습니다.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8950" y="1728488"/>
            <a:ext cx="3283474" cy="168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ctrTitle"/>
          </p:nvPr>
        </p:nvSpPr>
        <p:spPr>
          <a:xfrm>
            <a:off x="268043" y="218175"/>
            <a:ext cx="8584500" cy="53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/>
              <a:t>MSA </a:t>
            </a:r>
            <a:r>
              <a:rPr lang="ko" sz="2400"/>
              <a:t>의 인증/인가 구현 - Spring Security 활용</a:t>
            </a:r>
            <a:endParaRPr sz="2400"/>
          </a:p>
        </p:txBody>
      </p:sp>
      <p:cxnSp>
        <p:nvCxnSpPr>
          <p:cNvPr id="95" name="Google Shape;95;p19"/>
          <p:cNvCxnSpPr/>
          <p:nvPr/>
        </p:nvCxnSpPr>
        <p:spPr>
          <a:xfrm flipH="1" rot="10800000">
            <a:off x="332725" y="736500"/>
            <a:ext cx="8519700" cy="1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" name="Google Shape;96;p19"/>
          <p:cNvSpPr txBox="1"/>
          <p:nvPr/>
        </p:nvSpPr>
        <p:spPr>
          <a:xfrm>
            <a:off x="305450" y="1006450"/>
            <a:ext cx="8099700" cy="26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그럼 MSA에서 인증/인가 구현은 어떻게 할 수 있을까요 ?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MSA 환경에서 인증과 인가를 구현하는 방법은 여러 가지가 있으며,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아키텍처의 복잡도와 보안 요구사항에 따라 선택이 달라질 수 있습니다.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첫째, 모놀리식 방식과 유사하게 </a:t>
            </a:r>
            <a:r>
              <a:rPr b="1" lang="ko" sz="1100">
                <a:solidFill>
                  <a:schemeClr val="dk2"/>
                </a:solidFill>
              </a:rPr>
              <a:t>각 서비스에 Spring Security</a:t>
            </a:r>
            <a:r>
              <a:rPr lang="ko" sz="1100">
                <a:solidFill>
                  <a:schemeClr val="dk2"/>
                </a:solidFill>
              </a:rPr>
              <a:t>를 적용하는 방법입니다.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이 경우 </a:t>
            </a:r>
            <a:r>
              <a:rPr b="1" lang="ko" sz="1100">
                <a:solidFill>
                  <a:schemeClr val="dk2"/>
                </a:solidFill>
              </a:rPr>
              <a:t>Gateway는</a:t>
            </a:r>
            <a:r>
              <a:rPr lang="ko" sz="1100">
                <a:solidFill>
                  <a:schemeClr val="dk2"/>
                </a:solidFill>
              </a:rPr>
              <a:t> JWT 토큰을 파싱하여 </a:t>
            </a:r>
            <a:r>
              <a:rPr b="1" lang="ko" sz="1100">
                <a:solidFill>
                  <a:schemeClr val="dk2"/>
                </a:solidFill>
              </a:rPr>
              <a:t>userId를 추출</a:t>
            </a:r>
            <a:r>
              <a:rPr lang="ko" sz="1100">
                <a:solidFill>
                  <a:schemeClr val="dk2"/>
                </a:solidFill>
              </a:rPr>
              <a:t>하고, 얻은 </a:t>
            </a:r>
            <a:r>
              <a:rPr b="1" lang="ko" sz="1100">
                <a:solidFill>
                  <a:schemeClr val="dk2"/>
                </a:solidFill>
              </a:rPr>
              <a:t>userId를</a:t>
            </a:r>
            <a:r>
              <a:rPr lang="ko" sz="1100">
                <a:solidFill>
                  <a:schemeClr val="dk2"/>
                </a:solidFill>
              </a:rPr>
              <a:t> </a:t>
            </a:r>
            <a:r>
              <a:rPr b="1" lang="ko" sz="1100">
                <a:solidFill>
                  <a:schemeClr val="dk2"/>
                </a:solidFill>
              </a:rPr>
              <a:t>Request Header에 추가</a:t>
            </a:r>
            <a:r>
              <a:rPr lang="ko" sz="1100">
                <a:solidFill>
                  <a:schemeClr val="dk2"/>
                </a:solidFill>
              </a:rPr>
              <a:t>합니다.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각 서비스는 Request Header 의 userId를 기반으로 유저 서비스를 호출해 사용자 정보를 가져오고,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해당 정보를 SecurityContext에 저장하여 @AuthenticationPrincipal과 같은 어노테이션을 통해 활용합니다.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즉, 각 서비스가 자체적으로 인증 객체를 관리하는 구조입니다.</a:t>
            </a:r>
            <a:br>
              <a:rPr lang="ko" sz="1100">
                <a:solidFill>
                  <a:schemeClr val="dk2"/>
                </a:solidFill>
              </a:rPr>
            </a:br>
            <a:br>
              <a:rPr lang="ko" sz="1100">
                <a:solidFill>
                  <a:schemeClr val="dk2"/>
                </a:solidFill>
              </a:rPr>
            </a:br>
            <a:r>
              <a:rPr b="1" lang="ko" sz="1100">
                <a:solidFill>
                  <a:schemeClr val="dk2"/>
                </a:solidFill>
              </a:rPr>
              <a:t>모든 서비스가 Spring Security에 의존</a:t>
            </a:r>
            <a:r>
              <a:rPr lang="ko" sz="1100">
                <a:solidFill>
                  <a:schemeClr val="dk2"/>
                </a:solidFill>
              </a:rPr>
              <a:t>하게 되어 구조적 결합도가 높아지며</a:t>
            </a:r>
            <a:br>
              <a:rPr lang="ko" sz="1100">
                <a:solidFill>
                  <a:schemeClr val="dk2"/>
                </a:solidFill>
              </a:rPr>
            </a:br>
            <a:r>
              <a:rPr lang="ko" sz="1100">
                <a:solidFill>
                  <a:schemeClr val="dk2"/>
                </a:solidFill>
              </a:rPr>
              <a:t>동일한 인증 설정이 각 서비스에 중복되어 관리 비용이 증가한다는 단점이 있습니다.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97" name="Google Shape;97;p19" title="제목 없는 다이어그램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1650" y="3190750"/>
            <a:ext cx="3080773" cy="16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ctrTitle"/>
          </p:nvPr>
        </p:nvSpPr>
        <p:spPr>
          <a:xfrm>
            <a:off x="268043" y="218175"/>
            <a:ext cx="8562000" cy="53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/>
              <a:t>MSA 의 인증/인가 구현 - Gateway </a:t>
            </a:r>
            <a:r>
              <a:rPr lang="ko" sz="2400"/>
              <a:t>가 인증/인가 구현</a:t>
            </a:r>
            <a:endParaRPr sz="2400"/>
          </a:p>
        </p:txBody>
      </p:sp>
      <p:cxnSp>
        <p:nvCxnSpPr>
          <p:cNvPr id="103" name="Google Shape;103;p20"/>
          <p:cNvCxnSpPr/>
          <p:nvPr/>
        </p:nvCxnSpPr>
        <p:spPr>
          <a:xfrm flipH="1" rot="10800000">
            <a:off x="332725" y="736500"/>
            <a:ext cx="8519700" cy="1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" name="Google Shape;104;p20"/>
          <p:cNvSpPr txBox="1"/>
          <p:nvPr/>
        </p:nvSpPr>
        <p:spPr>
          <a:xfrm>
            <a:off x="305450" y="1006450"/>
            <a:ext cx="8099700" cy="29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둘째, </a:t>
            </a:r>
            <a:r>
              <a:rPr b="1" lang="ko" sz="1100">
                <a:solidFill>
                  <a:schemeClr val="dk2"/>
                </a:solidFill>
              </a:rPr>
              <a:t>Gateway가 인증과 인가를 대신 수행</a:t>
            </a:r>
            <a:r>
              <a:rPr lang="ko" sz="1100">
                <a:solidFill>
                  <a:schemeClr val="dk2"/>
                </a:solidFill>
              </a:rPr>
              <a:t>하는 방법입니다.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요청이 Gateway를 통과할 때, Gateway가 Auth 서비스를 호출하여 사용자의 인증 정보를 검증하고,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검증 결과로 얻은 사용자 정보 객체를 Request Header에 포함시켜 각 도메인 서비스로 전달합니다.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이 방식은 각 서비스의 인증 부담을 줄이고, </a:t>
            </a:r>
            <a:r>
              <a:rPr b="1" lang="ko" sz="1100">
                <a:solidFill>
                  <a:schemeClr val="dk2"/>
                </a:solidFill>
              </a:rPr>
              <a:t>인증 로직을 Gateway에서 일원화</a:t>
            </a:r>
            <a:r>
              <a:rPr lang="ko" sz="1100">
                <a:solidFill>
                  <a:schemeClr val="dk2"/>
                </a:solidFill>
              </a:rPr>
              <a:t>할 수 있다는 장점이 있습니다.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인증 제외 URL(로그인, 회원가입 등)을 Gateway에서 일괄 관리해야 하므로 </a:t>
            </a:r>
            <a:r>
              <a:rPr b="1" lang="ko" sz="1100">
                <a:solidFill>
                  <a:schemeClr val="dk2"/>
                </a:solidFill>
              </a:rPr>
              <a:t>설정이 복잡</a:t>
            </a:r>
            <a:r>
              <a:rPr lang="ko" sz="1100">
                <a:solidFill>
                  <a:schemeClr val="dk2"/>
                </a:solidFill>
              </a:rPr>
              <a:t>해지며 </a:t>
            </a:r>
            <a:r>
              <a:rPr b="1" lang="ko" sz="1100">
                <a:solidFill>
                  <a:schemeClr val="dk2"/>
                </a:solidFill>
              </a:rPr>
              <a:t>변경이 잦을 수 있습니다.</a:t>
            </a:r>
            <a:br>
              <a:rPr lang="ko" sz="1100">
                <a:solidFill>
                  <a:schemeClr val="dk2"/>
                </a:solidFill>
              </a:rPr>
            </a:br>
            <a:r>
              <a:rPr lang="ko" sz="1100">
                <a:solidFill>
                  <a:schemeClr val="dk2"/>
                </a:solidFill>
              </a:rPr>
              <a:t>또한 </a:t>
            </a:r>
            <a:r>
              <a:rPr b="1" lang="ko" sz="1100">
                <a:solidFill>
                  <a:schemeClr val="dk2"/>
                </a:solidFill>
              </a:rPr>
              <a:t>Gateway가 인증의 병목 지점이</a:t>
            </a:r>
            <a:r>
              <a:rPr lang="ko" sz="1100">
                <a:solidFill>
                  <a:schemeClr val="dk2"/>
                </a:solidFill>
              </a:rPr>
              <a:t> 되어 트래픽이 집중될 가능성이 있습니다.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105" name="Google Shape;105;p20" title="제목 없는 다이어그램.drawi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6012" y="2652875"/>
            <a:ext cx="2738575" cy="217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ctrTitle"/>
          </p:nvPr>
        </p:nvSpPr>
        <p:spPr>
          <a:xfrm>
            <a:off x="268043" y="218175"/>
            <a:ext cx="8584500" cy="53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/>
              <a:t>MSA 의 인증/인가 구현 - </a:t>
            </a:r>
            <a:r>
              <a:rPr lang="ko" sz="2400"/>
              <a:t>수동 인증/인가 구현</a:t>
            </a:r>
            <a:endParaRPr sz="2400"/>
          </a:p>
        </p:txBody>
      </p:sp>
      <p:cxnSp>
        <p:nvCxnSpPr>
          <p:cNvPr id="111" name="Google Shape;111;p21"/>
          <p:cNvCxnSpPr/>
          <p:nvPr/>
        </p:nvCxnSpPr>
        <p:spPr>
          <a:xfrm flipH="1" rot="10800000">
            <a:off x="332725" y="736500"/>
            <a:ext cx="8519700" cy="1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21"/>
          <p:cNvSpPr txBox="1"/>
          <p:nvPr/>
        </p:nvSpPr>
        <p:spPr>
          <a:xfrm>
            <a:off x="305450" y="1006450"/>
            <a:ext cx="8099700" cy="16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셋째, Spring Security를 완전히 제거하고 </a:t>
            </a:r>
            <a:r>
              <a:rPr b="1" lang="ko" sz="1100">
                <a:solidFill>
                  <a:schemeClr val="dk2"/>
                </a:solidFill>
              </a:rPr>
              <a:t>각 서비스 로직 내에서 인증을 처리</a:t>
            </a:r>
            <a:r>
              <a:rPr lang="ko" sz="1100">
                <a:solidFill>
                  <a:schemeClr val="dk2"/>
                </a:solidFill>
              </a:rPr>
              <a:t>하는 방법입니다.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JWT의 Stateless 특성을 활용하여, 인증이 필요한 API 요청에 한해서만 유저 서비스를 직접 호출해 사용자 정보를 검증하는 구조입니</a:t>
            </a:r>
            <a:r>
              <a:rPr lang="ko" sz="1100">
                <a:solidFill>
                  <a:schemeClr val="dk2"/>
                </a:solidFill>
              </a:rPr>
              <a:t>다</a:t>
            </a:r>
            <a:r>
              <a:rPr lang="ko" sz="1100">
                <a:solidFill>
                  <a:schemeClr val="dk2"/>
                </a:solidFill>
              </a:rPr>
              <a:t>.</a:t>
            </a:r>
            <a:br>
              <a:rPr lang="ko" sz="1100">
                <a:solidFill>
                  <a:schemeClr val="dk2"/>
                </a:solidFill>
              </a:rPr>
            </a:b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이 방식은 불필요한 필터 체인을 제거해 성능상의 이점을 가지지만, 보안 정책의 일관성을 유지하기 위해 명확한 설계 기준이 필요</a:t>
            </a:r>
            <a:r>
              <a:rPr lang="ko" sz="1100">
                <a:solidFill>
                  <a:schemeClr val="dk2"/>
                </a:solidFill>
              </a:rPr>
              <a:t>하며 서비스마다 인증 로직을 별도로 구현해야 하므로 </a:t>
            </a:r>
            <a:r>
              <a:rPr b="1" lang="ko" sz="1100">
                <a:solidFill>
                  <a:schemeClr val="dk2"/>
                </a:solidFill>
              </a:rPr>
              <a:t>중복 코드가 증가</a:t>
            </a:r>
            <a:r>
              <a:rPr lang="ko" sz="1100">
                <a:solidFill>
                  <a:schemeClr val="dk2"/>
                </a:solidFill>
              </a:rPr>
              <a:t>할 수 있습니다.</a:t>
            </a:r>
            <a:br>
              <a:rPr lang="ko" sz="1100">
                <a:solidFill>
                  <a:schemeClr val="dk2"/>
                </a:solidFill>
              </a:rPr>
            </a:br>
            <a:br>
              <a:rPr lang="ko" sz="1100">
                <a:solidFill>
                  <a:schemeClr val="dk2"/>
                </a:solidFill>
              </a:rPr>
            </a:br>
            <a:r>
              <a:rPr lang="ko" sz="1100">
                <a:solidFill>
                  <a:schemeClr val="dk2"/>
                </a:solidFill>
              </a:rPr>
              <a:t>결론적으로 어떤것이 더 좋다! 라기 보다는 </a:t>
            </a:r>
            <a:r>
              <a:rPr b="1" lang="ko" sz="1100">
                <a:solidFill>
                  <a:schemeClr val="dk2"/>
                </a:solidFill>
              </a:rPr>
              <a:t>팀에서 진행하고자 하는 방향성에 맞는 방법</a:t>
            </a:r>
            <a:r>
              <a:rPr lang="ko" sz="1100">
                <a:solidFill>
                  <a:schemeClr val="dk2"/>
                </a:solidFill>
              </a:rPr>
              <a:t>으로 선택하시길 바라겠습니다 :)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113" name="Google Shape;113;p21" title="제목 없는 다이어그램.drawio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5000" y="2888500"/>
            <a:ext cx="4780605" cy="177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ctrTitle"/>
          </p:nvPr>
        </p:nvSpPr>
        <p:spPr>
          <a:xfrm>
            <a:off x="311708" y="14481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/>
              <a:t>2</a:t>
            </a:r>
            <a:r>
              <a:rPr lang="ko" sz="2400"/>
              <a:t>. DDD </a:t>
            </a:r>
            <a:r>
              <a:rPr lang="ko" sz="2400"/>
              <a:t>패키지 구조 설명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ctrTitle"/>
          </p:nvPr>
        </p:nvSpPr>
        <p:spPr>
          <a:xfrm>
            <a:off x="268055" y="218175"/>
            <a:ext cx="3544500" cy="53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/>
              <a:t>DDD 구조에 대해</a:t>
            </a:r>
            <a:endParaRPr sz="2400"/>
          </a:p>
        </p:txBody>
      </p:sp>
      <p:cxnSp>
        <p:nvCxnSpPr>
          <p:cNvPr id="124" name="Google Shape;124;p23"/>
          <p:cNvCxnSpPr/>
          <p:nvPr/>
        </p:nvCxnSpPr>
        <p:spPr>
          <a:xfrm flipH="1" rot="10800000">
            <a:off x="332725" y="736500"/>
            <a:ext cx="8519700" cy="1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" name="Google Shape;125;p23"/>
          <p:cNvSpPr txBox="1"/>
          <p:nvPr/>
        </p:nvSpPr>
        <p:spPr>
          <a:xfrm>
            <a:off x="305450" y="2251813"/>
            <a:ext cx="4818000" cy="11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이번에는 DDD 구조에 대해 추가적인 설명을 드리고자 합니다.</a:t>
            </a:r>
            <a:br>
              <a:rPr lang="ko" sz="1100">
                <a:solidFill>
                  <a:schemeClr val="dk2"/>
                </a:solidFill>
              </a:rPr>
            </a:br>
            <a:r>
              <a:rPr lang="ko" sz="1100">
                <a:solidFill>
                  <a:schemeClr val="dk2"/>
                </a:solidFill>
              </a:rPr>
              <a:t>발제 문서를 읽으셨다면 발제 문서 중 우측 Directory 구조를 보셨을거에요.</a:t>
            </a:r>
            <a:br>
              <a:rPr lang="ko" sz="1100">
                <a:solidFill>
                  <a:schemeClr val="dk2"/>
                </a:solidFill>
              </a:rPr>
            </a:br>
            <a:br>
              <a:rPr lang="ko" sz="1100">
                <a:solidFill>
                  <a:schemeClr val="dk2"/>
                </a:solidFill>
              </a:rPr>
            </a:br>
            <a:r>
              <a:rPr lang="ko" sz="1100">
                <a:solidFill>
                  <a:schemeClr val="dk2"/>
                </a:solidFill>
              </a:rPr>
              <a:t>여기서 많이 궁금해하시는 부분을 해결 해드리겠습니다 :)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126" name="Google Shape;126;p23" title="스크린샷 2025-11-06 오후 1.56.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6251" y="956550"/>
            <a:ext cx="2466650" cy="3694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ctrTitle"/>
          </p:nvPr>
        </p:nvSpPr>
        <p:spPr>
          <a:xfrm>
            <a:off x="268044" y="218175"/>
            <a:ext cx="8118300" cy="53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/>
              <a:t>Repository</a:t>
            </a:r>
            <a:r>
              <a:rPr lang="ko" sz="2400"/>
              <a:t>는 왜 분리되었는가</a:t>
            </a:r>
            <a:endParaRPr sz="2400"/>
          </a:p>
        </p:txBody>
      </p:sp>
      <p:cxnSp>
        <p:nvCxnSpPr>
          <p:cNvPr id="132" name="Google Shape;132;p24"/>
          <p:cNvCxnSpPr/>
          <p:nvPr/>
        </p:nvCxnSpPr>
        <p:spPr>
          <a:xfrm flipH="1" rot="10800000">
            <a:off x="332725" y="736500"/>
            <a:ext cx="8519700" cy="1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24"/>
          <p:cNvSpPr txBox="1"/>
          <p:nvPr/>
        </p:nvSpPr>
        <p:spPr>
          <a:xfrm>
            <a:off x="298500" y="929775"/>
            <a:ext cx="8547000" cy="3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OrderRepository, JpaOrderRepository, OrderRepositoryImpl 의 차이가 무엇일까요 ?</a:t>
            </a:r>
            <a:br>
              <a:rPr lang="ko" sz="1100">
                <a:solidFill>
                  <a:schemeClr val="dk2"/>
                </a:solidFill>
              </a:rPr>
            </a:br>
            <a:r>
              <a:rPr lang="ko" sz="1100">
                <a:solidFill>
                  <a:schemeClr val="dk2"/>
                </a:solidFill>
              </a:rPr>
              <a:t>여러분들이 일반적인 방식으로 Repository 를 구성하실 때에는, Domain 영역에 Repository 를 두고 아래처럼 개발해오셨을 거에요.</a:t>
            </a:r>
            <a:br>
              <a:rPr lang="ko" sz="1100">
                <a:solidFill>
                  <a:schemeClr val="dk2"/>
                </a:solidFill>
              </a:rPr>
            </a:br>
            <a:r>
              <a:rPr lang="ko" sz="1100">
                <a:solidFill>
                  <a:srgbClr val="FF9900"/>
                </a:solidFill>
              </a:rPr>
              <a:t>public interface OrderRepository extends JpaRepository&lt;Order, Long&gt;</a:t>
            </a:r>
            <a:br>
              <a:rPr lang="ko" sz="1100">
                <a:solidFill>
                  <a:schemeClr val="dk2"/>
                </a:solidFill>
              </a:rPr>
            </a:br>
            <a:br>
              <a:rPr lang="ko" sz="1100">
                <a:solidFill>
                  <a:schemeClr val="dk2"/>
                </a:solidFill>
              </a:rPr>
            </a:br>
            <a:r>
              <a:rPr lang="ko" sz="1100">
                <a:solidFill>
                  <a:schemeClr val="dk2"/>
                </a:solidFill>
              </a:rPr>
              <a:t>여기서 </a:t>
            </a:r>
            <a:r>
              <a:rPr b="1" lang="ko" sz="1100">
                <a:solidFill>
                  <a:schemeClr val="dk2"/>
                </a:solidFill>
              </a:rPr>
              <a:t>JpaRepository는</a:t>
            </a:r>
            <a:r>
              <a:rPr lang="ko" sz="1100">
                <a:solidFill>
                  <a:schemeClr val="dk2"/>
                </a:solidFill>
              </a:rPr>
              <a:t> JPA 기술에 의존하여 데이터베이스에 실제로 접근하는 </a:t>
            </a:r>
            <a:r>
              <a:rPr b="1" lang="ko" sz="1100">
                <a:solidFill>
                  <a:schemeClr val="dk2"/>
                </a:solidFill>
              </a:rPr>
              <a:t>구현체</a:t>
            </a:r>
            <a:r>
              <a:rPr lang="ko" sz="1100">
                <a:solidFill>
                  <a:schemeClr val="dk2"/>
                </a:solidFill>
              </a:rPr>
              <a:t>(또는 어댑터)입니다. Spring Data JPA에서 제공하는 </a:t>
            </a:r>
            <a:r>
              <a:rPr b="1" lang="ko" sz="1100">
                <a:solidFill>
                  <a:schemeClr val="dk2"/>
                </a:solidFill>
              </a:rPr>
              <a:t>JpaRepository를 상속</a:t>
            </a:r>
            <a:r>
              <a:rPr lang="ko" sz="1100">
                <a:solidFill>
                  <a:schemeClr val="dk2"/>
                </a:solidFill>
              </a:rPr>
              <a:t>받아 구현되며, 이는 JPA라는 특정 </a:t>
            </a:r>
            <a:r>
              <a:rPr b="1" lang="ko" sz="1100">
                <a:solidFill>
                  <a:schemeClr val="dk2"/>
                </a:solidFill>
              </a:rPr>
              <a:t>영속성 기술 스택에 종속</a:t>
            </a:r>
            <a:r>
              <a:rPr lang="ko" sz="1100">
                <a:solidFill>
                  <a:schemeClr val="dk2"/>
                </a:solidFill>
              </a:rPr>
              <a:t>되기 때문에 </a:t>
            </a:r>
            <a:r>
              <a:rPr b="1" lang="ko" sz="1100">
                <a:solidFill>
                  <a:schemeClr val="dk2"/>
                </a:solidFill>
              </a:rPr>
              <a:t>Infrastructure Layer</a:t>
            </a:r>
            <a:r>
              <a:rPr lang="ko" sz="1100">
                <a:solidFill>
                  <a:schemeClr val="dk2"/>
                </a:solidFill>
              </a:rPr>
              <a:t>에 속합니다. 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반면, </a:t>
            </a:r>
            <a:r>
              <a:rPr b="1" lang="ko" sz="1100">
                <a:solidFill>
                  <a:schemeClr val="dk2"/>
                </a:solidFill>
              </a:rPr>
              <a:t>DDD에서 말하는 Repository</a:t>
            </a:r>
            <a:r>
              <a:rPr lang="ko" sz="1100">
                <a:solidFill>
                  <a:schemeClr val="dk2"/>
                </a:solidFill>
              </a:rPr>
              <a:t>는 도메인 모델을 저장하고 조회하는 </a:t>
            </a:r>
            <a:r>
              <a:rPr b="1" lang="ko" sz="1100">
                <a:solidFill>
                  <a:schemeClr val="dk2"/>
                </a:solidFill>
              </a:rPr>
              <a:t>도메인 개념의 추상화</a:t>
            </a:r>
            <a:r>
              <a:rPr lang="ko" sz="1100">
                <a:solidFill>
                  <a:schemeClr val="dk2"/>
                </a:solidFill>
              </a:rPr>
              <a:t>입니다. </a:t>
            </a:r>
            <a:br>
              <a:rPr lang="ko" sz="1100">
                <a:solidFill>
                  <a:schemeClr val="dk2"/>
                </a:solidFill>
              </a:rPr>
            </a:br>
            <a:r>
              <a:rPr lang="ko" sz="1100">
                <a:solidFill>
                  <a:schemeClr val="dk2"/>
                </a:solidFill>
              </a:rPr>
              <a:t>이 Repository는 </a:t>
            </a:r>
            <a:r>
              <a:rPr b="1" lang="ko" sz="1100">
                <a:solidFill>
                  <a:schemeClr val="dk2"/>
                </a:solidFill>
              </a:rPr>
              <a:t>기술과는 완전히 분리</a:t>
            </a:r>
            <a:r>
              <a:rPr lang="ko" sz="1100">
                <a:solidFill>
                  <a:schemeClr val="dk2"/>
                </a:solidFill>
              </a:rPr>
              <a:t>되어 있으며, “주문을 저장한다”, “주문을 조회한다”와 같이 </a:t>
            </a:r>
            <a:r>
              <a:rPr b="1" lang="ko" sz="1100">
                <a:solidFill>
                  <a:schemeClr val="dk2"/>
                </a:solidFill>
              </a:rPr>
              <a:t>순수한 비즈니스 언어</a:t>
            </a:r>
            <a:r>
              <a:rPr lang="ko" sz="1100">
                <a:solidFill>
                  <a:schemeClr val="dk2"/>
                </a:solidFill>
              </a:rPr>
              <a:t>(유비쿼터스 언어)로 정의되어야 합니다. 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ctrTitle"/>
          </p:nvPr>
        </p:nvSpPr>
        <p:spPr>
          <a:xfrm>
            <a:off x="268055" y="218175"/>
            <a:ext cx="3544500" cy="53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/>
              <a:t>디렉토리</a:t>
            </a:r>
            <a:r>
              <a:rPr lang="ko" sz="2400"/>
              <a:t> 구조 - Repository</a:t>
            </a:r>
            <a:endParaRPr sz="2400"/>
          </a:p>
        </p:txBody>
      </p:sp>
      <p:cxnSp>
        <p:nvCxnSpPr>
          <p:cNvPr id="139" name="Google Shape;139;p25"/>
          <p:cNvCxnSpPr/>
          <p:nvPr/>
        </p:nvCxnSpPr>
        <p:spPr>
          <a:xfrm flipH="1" rot="10800000">
            <a:off x="332725" y="736500"/>
            <a:ext cx="8519700" cy="1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" name="Google Shape;140;p25"/>
          <p:cNvSpPr txBox="1"/>
          <p:nvPr/>
        </p:nvSpPr>
        <p:spPr>
          <a:xfrm>
            <a:off x="298500" y="929775"/>
            <a:ext cx="8547000" cy="1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따라서 OrderRepository와 같은 도메인 중심의 인터페이스는 JpaRepository를 제외한 순수한 비즈니스 언어로 Domain Layer에 위치하여야 하고, </a:t>
            </a:r>
            <a:br>
              <a:rPr lang="ko" sz="1100">
                <a:solidFill>
                  <a:schemeClr val="dk2"/>
                </a:solidFill>
              </a:rPr>
            </a:br>
            <a:r>
              <a:rPr lang="ko" sz="1100">
                <a:solidFill>
                  <a:schemeClr val="dk2"/>
                </a:solidFill>
              </a:rPr>
              <a:t>이를 구현하는 </a:t>
            </a:r>
            <a:r>
              <a:rPr b="1" lang="ko" sz="1100">
                <a:solidFill>
                  <a:schemeClr val="dk2"/>
                </a:solidFill>
              </a:rPr>
              <a:t>JpaRepository는</a:t>
            </a:r>
            <a:r>
              <a:rPr lang="ko" sz="1100">
                <a:solidFill>
                  <a:schemeClr val="dk2"/>
                </a:solidFill>
              </a:rPr>
              <a:t> </a:t>
            </a:r>
            <a:r>
              <a:rPr b="1" lang="ko" sz="1100">
                <a:solidFill>
                  <a:schemeClr val="dk2"/>
                </a:solidFill>
              </a:rPr>
              <a:t>Infrastructure</a:t>
            </a:r>
            <a:r>
              <a:rPr lang="ko" sz="1100">
                <a:solidFill>
                  <a:schemeClr val="dk2"/>
                </a:solidFill>
              </a:rPr>
              <a:t> </a:t>
            </a:r>
            <a:r>
              <a:rPr b="1" lang="ko" sz="1100">
                <a:solidFill>
                  <a:schemeClr val="dk2"/>
                </a:solidFill>
              </a:rPr>
              <a:t>Layer</a:t>
            </a:r>
            <a:r>
              <a:rPr lang="ko" sz="1100">
                <a:solidFill>
                  <a:schemeClr val="dk2"/>
                </a:solidFill>
              </a:rPr>
              <a:t>에서 기술 의존적인 세부 로직을 담당하는 것이 바람직합니다.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그리고 OrderRepositoryImpl은 OrderRepository 인터페이스를 상속받은 구현체로서, 단순히 JPA를 사용하는 것이 아닌 확장성을 위해 다른 데이터 접근 기술(QueryDSL, CQRS 기반 조회 모델 등)을 활용할 때 해당 메서드들을 구현하기 위한 어댑터(Adapter) 역할을 하기 위해서 필요합니다.</a:t>
            </a:r>
            <a:br>
              <a:rPr lang="ko" sz="1100">
                <a:solidFill>
                  <a:schemeClr val="dk2"/>
                </a:solidFill>
              </a:rPr>
            </a:b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즉, </a:t>
            </a:r>
            <a:r>
              <a:rPr b="1" lang="ko" sz="1100">
                <a:solidFill>
                  <a:schemeClr val="dk2"/>
                </a:solidFill>
              </a:rPr>
              <a:t>OrderRepositoryImpl</a:t>
            </a:r>
            <a:r>
              <a:rPr lang="ko" sz="1100">
                <a:solidFill>
                  <a:schemeClr val="dk2"/>
                </a:solidFill>
              </a:rPr>
              <a:t>은 도메인에서 정의된 저장소 </a:t>
            </a:r>
            <a:r>
              <a:rPr b="1" lang="ko" sz="1100">
                <a:solidFill>
                  <a:schemeClr val="dk2"/>
                </a:solidFill>
              </a:rPr>
              <a:t>인터페이스를 실제 인프라스트럭처 기술과 연결해주는 구현체</a:t>
            </a:r>
            <a:r>
              <a:rPr lang="ko" sz="1100">
                <a:solidFill>
                  <a:schemeClr val="dk2"/>
                </a:solidFill>
              </a:rPr>
              <a:t>로, 기술적인 세부 사항을 캡슐화하여 </a:t>
            </a:r>
            <a:r>
              <a:rPr b="1" lang="ko" sz="1100">
                <a:solidFill>
                  <a:schemeClr val="dk2"/>
                </a:solidFill>
              </a:rPr>
              <a:t>도메인 계층이 특정 기술에 의존하지 않도록 해주는 역할</a:t>
            </a:r>
            <a:r>
              <a:rPr lang="ko" sz="1100">
                <a:solidFill>
                  <a:schemeClr val="dk2"/>
                </a:solidFill>
              </a:rPr>
              <a:t>을 담당합니다.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141" name="Google Shape;141;p25" title="제목 없는 다이어그램.drawio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0150" y="2871250"/>
            <a:ext cx="5663705" cy="204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ctrTitle"/>
          </p:nvPr>
        </p:nvSpPr>
        <p:spPr>
          <a:xfrm>
            <a:off x="268043" y="218175"/>
            <a:ext cx="8584500" cy="53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/>
              <a:t>디렉토리 </a:t>
            </a:r>
            <a:r>
              <a:rPr lang="ko" sz="2400"/>
              <a:t>구조 - </a:t>
            </a:r>
            <a:r>
              <a:rPr lang="ko" sz="2400"/>
              <a:t>DTO가 두 계층에 각각 존재해야 하는 이유</a:t>
            </a:r>
            <a:endParaRPr sz="2400"/>
          </a:p>
        </p:txBody>
      </p:sp>
      <p:cxnSp>
        <p:nvCxnSpPr>
          <p:cNvPr id="147" name="Google Shape;147;p26"/>
          <p:cNvCxnSpPr/>
          <p:nvPr/>
        </p:nvCxnSpPr>
        <p:spPr>
          <a:xfrm flipH="1" rot="10800000">
            <a:off x="332725" y="736500"/>
            <a:ext cx="8519700" cy="1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" name="Google Shape;148;p26"/>
          <p:cNvSpPr txBox="1"/>
          <p:nvPr/>
        </p:nvSpPr>
        <p:spPr>
          <a:xfrm>
            <a:off x="298500" y="929775"/>
            <a:ext cx="8547000" cy="3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DTO가 Presentation 계층과 Application 계층에 따로 있는 이유가 뭘까요 ?</a:t>
            </a:r>
            <a:br>
              <a:rPr lang="ko" sz="1100">
                <a:solidFill>
                  <a:schemeClr val="dk2"/>
                </a:solidFill>
              </a:rPr>
            </a:br>
            <a:br>
              <a:rPr lang="ko" sz="1100">
                <a:solidFill>
                  <a:schemeClr val="dk2"/>
                </a:solidFill>
              </a:rPr>
            </a:br>
            <a:r>
              <a:rPr lang="ko" sz="1100">
                <a:solidFill>
                  <a:schemeClr val="dk2"/>
                </a:solidFill>
              </a:rPr>
              <a:t>DTO가 Presentation 계층과 Application 계층</a:t>
            </a:r>
            <a:r>
              <a:rPr lang="ko" sz="1100">
                <a:solidFill>
                  <a:schemeClr val="dk2"/>
                </a:solidFill>
              </a:rPr>
              <a:t>에 각각 존재해야 하는 이유는 </a:t>
            </a:r>
            <a:r>
              <a:rPr b="1" lang="ko" sz="1100">
                <a:solidFill>
                  <a:schemeClr val="dk2"/>
                </a:solidFill>
              </a:rPr>
              <a:t>계층별 관심사가 다르기 때문</a:t>
            </a:r>
            <a:r>
              <a:rPr lang="ko" sz="1100">
                <a:solidFill>
                  <a:schemeClr val="dk2"/>
                </a:solidFill>
              </a:rPr>
              <a:t>입니다.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2"/>
                </a:solidFill>
              </a:rPr>
              <a:t>Application 계층은 비즈니스 로직을 수행하는 영역</a:t>
            </a:r>
            <a:r>
              <a:rPr lang="ko" sz="1100">
                <a:solidFill>
                  <a:schemeClr val="dk2"/>
                </a:solidFill>
              </a:rPr>
              <a:t>으로, 내부 유스케이스를 처리하기 위한 안정적인 데이터 구조가 필요합니다. </a:t>
            </a:r>
            <a:br>
              <a:rPr lang="ko" sz="1100">
                <a:solidFill>
                  <a:schemeClr val="dk2"/>
                </a:solidFill>
              </a:rPr>
            </a:br>
            <a:r>
              <a:rPr lang="ko" sz="1100">
                <a:solidFill>
                  <a:schemeClr val="dk2"/>
                </a:solidFill>
              </a:rPr>
              <a:t>반면 </a:t>
            </a:r>
            <a:r>
              <a:rPr b="1" lang="ko" sz="1100">
                <a:solidFill>
                  <a:schemeClr val="dk2"/>
                </a:solidFill>
              </a:rPr>
              <a:t>Presentation 계층은 클라이언트와 직접 소통하는 영역</a:t>
            </a:r>
            <a:r>
              <a:rPr lang="ko" sz="1100">
                <a:solidFill>
                  <a:schemeClr val="dk2"/>
                </a:solidFill>
              </a:rPr>
              <a:t>으로, 요청과 응답 형식을 클라이언트 요구에 맞게 가공해야 합니다.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예를 들어 “상품 조회 시 내부 호출에는 id를 포함하고, 외부 요청에는 제외한다”는 요구사항이 있을 때, 이를 Application 계층에서 모두 처리하게 된다면 코드 중복과 유지보수 문제가 발생할 수 있습니다. 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위 문제를 해결하기 위해서 Presentation 계층에서 별도의 DTO를 두면 Application은 동일한 결과를 반환하게 하고,</a:t>
            </a:r>
            <a:br>
              <a:rPr lang="ko" sz="1100">
                <a:solidFill>
                  <a:schemeClr val="dk2"/>
                </a:solidFill>
              </a:rPr>
            </a:br>
            <a:r>
              <a:rPr lang="ko" sz="1100">
                <a:solidFill>
                  <a:schemeClr val="dk2"/>
                </a:solidFill>
              </a:rPr>
              <a:t>Presentation에서 클라이언트별로 필요한 형태로 가공하여 변환할 수 있기에 SRP 원칙을 지킬 수 있게 됩니다.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즉, </a:t>
            </a:r>
            <a:r>
              <a:rPr b="1" lang="ko" sz="1100">
                <a:solidFill>
                  <a:schemeClr val="dk2"/>
                </a:solidFill>
              </a:rPr>
              <a:t>Application DTO는 내부 안정성</a:t>
            </a:r>
            <a:r>
              <a:rPr lang="ko" sz="1100">
                <a:solidFill>
                  <a:schemeClr val="dk2"/>
                </a:solidFill>
              </a:rPr>
              <a:t>을, </a:t>
            </a:r>
            <a:r>
              <a:rPr b="1" lang="ko" sz="1100">
                <a:solidFill>
                  <a:schemeClr val="dk2"/>
                </a:solidFill>
              </a:rPr>
              <a:t>Presentation DTO는 외부 유연성</a:t>
            </a:r>
            <a:r>
              <a:rPr lang="ko" sz="1100">
                <a:solidFill>
                  <a:schemeClr val="dk2"/>
                </a:solidFill>
              </a:rPr>
              <a:t>을 위한 것이며, </a:t>
            </a:r>
            <a:br>
              <a:rPr lang="ko" sz="1100">
                <a:solidFill>
                  <a:schemeClr val="dk2"/>
                </a:solidFill>
              </a:rPr>
            </a:br>
            <a:r>
              <a:rPr lang="ko" sz="1100">
                <a:solidFill>
                  <a:schemeClr val="dk2"/>
                </a:solidFill>
              </a:rPr>
              <a:t>상황에 따라 하나의 클라이언트만 존재한다면 Presentation DTO는 생략할 수도 있습니다.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ctrTitle"/>
          </p:nvPr>
        </p:nvSpPr>
        <p:spPr>
          <a:xfrm>
            <a:off x="268043" y="218175"/>
            <a:ext cx="8584500" cy="53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/>
              <a:t>디렉토리 구조 - </a:t>
            </a:r>
            <a:r>
              <a:rPr lang="ko" sz="2400"/>
              <a:t>도메인 서비스 ? 서비스 ?</a:t>
            </a:r>
            <a:endParaRPr sz="2400"/>
          </a:p>
        </p:txBody>
      </p:sp>
      <p:cxnSp>
        <p:nvCxnSpPr>
          <p:cNvPr id="154" name="Google Shape;154;p27"/>
          <p:cNvCxnSpPr/>
          <p:nvPr/>
        </p:nvCxnSpPr>
        <p:spPr>
          <a:xfrm flipH="1" rot="10800000">
            <a:off x="332725" y="736500"/>
            <a:ext cx="8519700" cy="1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27"/>
          <p:cNvSpPr txBox="1"/>
          <p:nvPr/>
        </p:nvSpPr>
        <p:spPr>
          <a:xfrm>
            <a:off x="298500" y="929775"/>
            <a:ext cx="8547000" cy="3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DDD에서 도메인 서비스와 애플리케이션 서비스는 무엇이 다른걸까요 ?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위 2개는 이름은 비슷하지만 전혀 다른 역할을 하고 있습니다.</a:t>
            </a:r>
            <a:br>
              <a:rPr lang="ko" sz="1100">
                <a:solidFill>
                  <a:schemeClr val="dk2"/>
                </a:solidFill>
              </a:rPr>
            </a:br>
            <a:br>
              <a:rPr lang="ko" sz="1100">
                <a:solidFill>
                  <a:schemeClr val="dk2"/>
                </a:solidFill>
              </a:rPr>
            </a:br>
            <a:r>
              <a:rPr lang="ko" sz="1100">
                <a:solidFill>
                  <a:schemeClr val="dk2"/>
                </a:solidFill>
              </a:rPr>
              <a:t>DDD에서 도메인 서비스는 도메인 규칙과 로직을 표현하는 순수한 도메인 계층의 구성 요소로, </a:t>
            </a:r>
            <a:r>
              <a:rPr b="1" lang="ko" sz="1100">
                <a:solidFill>
                  <a:schemeClr val="dk2"/>
                </a:solidFill>
              </a:rPr>
              <a:t>특정 엔티티나 값 객체에 속하지 않는</a:t>
            </a:r>
            <a:r>
              <a:rPr lang="ko" sz="1100">
                <a:solidFill>
                  <a:schemeClr val="dk2"/>
                </a:solidFill>
              </a:rPr>
              <a:t> </a:t>
            </a:r>
            <a:r>
              <a:rPr b="1" lang="ko" sz="1100">
                <a:solidFill>
                  <a:schemeClr val="dk2"/>
                </a:solidFill>
              </a:rPr>
              <a:t>비즈니스 규칙을 담당</a:t>
            </a:r>
            <a:r>
              <a:rPr lang="ko" sz="1100">
                <a:solidFill>
                  <a:schemeClr val="dk2"/>
                </a:solidFill>
              </a:rPr>
              <a:t>합니다. 즉, 여러 개의 엔티티가 협력해야만 수행되는 규칙을 담기 위해 사용됩니다. </a:t>
            </a:r>
            <a:br>
              <a:rPr lang="ko" sz="1100">
                <a:solidFill>
                  <a:schemeClr val="dk2"/>
                </a:solidFill>
              </a:rPr>
            </a:br>
            <a:br>
              <a:rPr lang="ko" sz="1100">
                <a:solidFill>
                  <a:schemeClr val="dk2"/>
                </a:solidFill>
              </a:rPr>
            </a:br>
            <a:r>
              <a:rPr lang="ko" sz="1100">
                <a:solidFill>
                  <a:schemeClr val="dk2"/>
                </a:solidFill>
              </a:rPr>
              <a:t>예를 들어, 한 계좌에서 다른 계좌로 송금할 때 두 개의 Account 애그리거트가 함께 참여하는 송금 규칙(“잔액이 부족하면 송금할 수 없다”, “이체 후 송금자와 수신자 모두 잔액이 변경된다”)은 </a:t>
            </a:r>
            <a:r>
              <a:rPr b="1" lang="ko" sz="1100">
                <a:solidFill>
                  <a:schemeClr val="dk2"/>
                </a:solidFill>
              </a:rPr>
              <a:t>엔티티 내부에 규칙을 명시할 수 없기에</a:t>
            </a:r>
            <a:r>
              <a:rPr lang="ko" sz="1100">
                <a:solidFill>
                  <a:schemeClr val="dk2"/>
                </a:solidFill>
              </a:rPr>
              <a:t> 도메인 서비스로 구현하는 것이 적절합니다.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반면, 하나의 애그리거트 내에서만 해결 가능한 규칙이라면, 그 로직은 해당 엔티티나 값 객체 내부에 위치시키는 것이 원칙이며, 도메인 서비스를 별도로 만들 필요는 없습니다. 즉, 도메인 서비스는 애그리거트 간 협력을 표현할 때만 등장해야 하며, 애그리거트가 하나뿐인 경우에는 오히려 불필요하거나 과도한 추상화가 될 수 있습니다.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결국, </a:t>
            </a:r>
            <a:r>
              <a:rPr b="1" lang="ko" sz="1100">
                <a:solidFill>
                  <a:schemeClr val="dk2"/>
                </a:solidFill>
              </a:rPr>
              <a:t>도메인 서비스</a:t>
            </a:r>
            <a:r>
              <a:rPr lang="ko" sz="1100">
                <a:solidFill>
                  <a:schemeClr val="dk2"/>
                </a:solidFill>
              </a:rPr>
              <a:t>는 “한 애그리거트로 표현하기에는 범위가 넓은 비즈니스 규칙”을 위한 </a:t>
            </a:r>
            <a:r>
              <a:rPr b="1" lang="ko" sz="1100">
                <a:solidFill>
                  <a:schemeClr val="dk2"/>
                </a:solidFill>
              </a:rPr>
              <a:t>도메인 계층의 조력자</a:t>
            </a:r>
            <a:r>
              <a:rPr lang="ko" sz="1100">
                <a:solidFill>
                  <a:schemeClr val="dk2"/>
                </a:solidFill>
              </a:rPr>
              <a:t>이고,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2"/>
                </a:solidFill>
              </a:rPr>
              <a:t>애플리케이션 서비스</a:t>
            </a:r>
            <a:r>
              <a:rPr lang="ko" sz="1100">
                <a:solidFill>
                  <a:schemeClr val="dk2"/>
                </a:solidFill>
              </a:rPr>
              <a:t>는 이러한 도메인 로직을 적절히 조합하고 실행 순서를 관리하는 </a:t>
            </a:r>
            <a:r>
              <a:rPr b="1" lang="ko" sz="1100">
                <a:solidFill>
                  <a:schemeClr val="dk2"/>
                </a:solidFill>
              </a:rPr>
              <a:t>유스케이스 담당자</a:t>
            </a:r>
            <a:r>
              <a:rPr lang="ko" sz="1100">
                <a:solidFill>
                  <a:schemeClr val="dk2"/>
                </a:solidFill>
              </a:rPr>
              <a:t>라고 이해하면 됩니다.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ctrTitle"/>
          </p:nvPr>
        </p:nvSpPr>
        <p:spPr>
          <a:xfrm>
            <a:off x="268043" y="218175"/>
            <a:ext cx="8584500" cy="53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/>
              <a:t>마무리</a:t>
            </a:r>
            <a:endParaRPr sz="2400"/>
          </a:p>
        </p:txBody>
      </p:sp>
      <p:cxnSp>
        <p:nvCxnSpPr>
          <p:cNvPr id="161" name="Google Shape;161;p28"/>
          <p:cNvCxnSpPr/>
          <p:nvPr/>
        </p:nvCxnSpPr>
        <p:spPr>
          <a:xfrm flipH="1" rot="10800000">
            <a:off x="332725" y="736500"/>
            <a:ext cx="8519700" cy="1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28"/>
          <p:cNvSpPr txBox="1"/>
          <p:nvPr/>
        </p:nvSpPr>
        <p:spPr>
          <a:xfrm>
            <a:off x="298500" y="929775"/>
            <a:ext cx="8547000" cy="19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결국, 여러분이 고민하시는 여러 개의 유사한 역할을 하는 파일이나 계층들은 </a:t>
            </a:r>
            <a:r>
              <a:rPr b="1" lang="ko" sz="1100">
                <a:solidFill>
                  <a:schemeClr val="dk2"/>
                </a:solidFill>
              </a:rPr>
              <a:t>추상화와 확장성을 고려한 설계적 선택의 결과</a:t>
            </a:r>
            <a:r>
              <a:rPr lang="ko" sz="1100">
                <a:solidFill>
                  <a:schemeClr val="dk2"/>
                </a:solidFill>
              </a:rPr>
              <a:t>라고 보시면 됩니다.</a:t>
            </a:r>
            <a:br>
              <a:rPr lang="ko" sz="1100">
                <a:solidFill>
                  <a:schemeClr val="dk2"/>
                </a:solidFill>
              </a:rPr>
            </a:b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이러한 구조들은 변화에 유연하게 대응하고, 책임을 명확히 분리하며, 유지보수를 용이하게 하기 위한 도구일 뿐, </a:t>
            </a:r>
            <a:br>
              <a:rPr lang="ko" sz="1100">
                <a:solidFill>
                  <a:schemeClr val="dk2"/>
                </a:solidFill>
              </a:rPr>
            </a:br>
            <a:r>
              <a:rPr lang="ko" sz="1100">
                <a:solidFill>
                  <a:schemeClr val="dk2"/>
                </a:solidFill>
              </a:rPr>
              <a:t>반드시 모든 프로젝트에 똑같이 적용해야 하는 절대적인 규칙은 아닙니다.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따라서 현재 팀의 규모, 개발 속도, 프로젝트 복잡도에 맞게 일부 계층을 단순화하거나 생략하는 것도 충분히 합리적인 선택입니다.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또한 필요하다면 새로운 팀만의 규칙과 합의된 설계 원칙을 정의하여 운영하는 것 역시 바람직한 접근입니다.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즉, 중요한 것은 구조 자체보다도 팀이 </a:t>
            </a:r>
            <a:r>
              <a:rPr b="1" lang="ko" sz="1100">
                <a:solidFill>
                  <a:schemeClr val="dk2"/>
                </a:solidFill>
              </a:rPr>
              <a:t>해당 구조를 왜 선택했는지</a:t>
            </a:r>
            <a:r>
              <a:rPr lang="ko" sz="1100">
                <a:solidFill>
                  <a:schemeClr val="dk2"/>
                </a:solidFill>
              </a:rPr>
              <a:t>, </a:t>
            </a:r>
            <a:r>
              <a:rPr b="1" lang="ko" sz="1100">
                <a:solidFill>
                  <a:schemeClr val="dk2"/>
                </a:solidFill>
              </a:rPr>
              <a:t>어떤 문제를 해결하기 위해 사용하는지</a:t>
            </a:r>
            <a:r>
              <a:rPr lang="ko" sz="1100">
                <a:solidFill>
                  <a:schemeClr val="dk2"/>
                </a:solidFill>
              </a:rPr>
              <a:t>에 대한 공감과 일관성입니다.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